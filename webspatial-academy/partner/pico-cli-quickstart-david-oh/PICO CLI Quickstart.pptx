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1pPr>
    <a:lvl2pPr marL="0" marR="0" indent="4572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2pPr>
    <a:lvl3pPr marL="0" marR="0" indent="9144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3pPr>
    <a:lvl4pPr marL="0" marR="0" indent="13716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4pPr>
    <a:lvl5pPr marL="0" marR="0" indent="18288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5pPr>
    <a:lvl6pPr marL="0" marR="0" indent="22860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6pPr>
    <a:lvl7pPr marL="0" marR="0" indent="27432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7pPr>
    <a:lvl8pPr marL="0" marR="0" indent="32004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8pPr>
    <a:lvl9pPr marL="0" marR="0" indent="3657600" algn="l" defTabSz="914400" rtl="0" fontAlgn="auto" latinLnBrk="0" hangingPunct="0">
      <a:lnSpc>
        <a:spcPts val="21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300" u="none" kumimoji="0" normalizeH="0">
        <a:ln>
          <a:noFill/>
        </a:ln>
        <a:solidFill>
          <a:srgbClr val="0B7A83"/>
        </a:solidFill>
        <a:effectLst/>
        <a:uFillTx/>
        <a:latin typeface="IBM Plex Sans"/>
        <a:ea typeface="IBM Plex Sans"/>
        <a:cs typeface="IBM Plex Sans"/>
        <a:sym typeface="IBM Plex San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" name="Shape 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deck walks through the one-pager: seven steps from nothing installed to an app running in the PICO emulator, with Claude Code as the AI agent.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pico-cli covers three jobs. It creates projects, it runs and debugs them on the emulator or a headset, and it gives your AI agent PICO-specific skills and docs.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7" name="Shape 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don't install the Spatial SDK separately. It's the Android/Kotlin SDK, and the project template brings it in through Gradle.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Any Claude plan or an API key works. Sign in once and Claude Code remembers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help output was captured from pico-cli 0.4.2 on macOS and trimmed a little. Version 0.5.0 is out; pico-cli update gets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step that makes Claude PICO-aware. The skills cover onboarding, the emulator, the Spatial SDK and UI, and performance. The docs server lets Claude look up PICO documentation.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" name="Shape 1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Real output from a Mac that isn't fully set up yet, trimmed. Run pico-cli doctor for the full check across emulator, plugin and editor.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Pick the template that matches the app. The generated project already depends on the PICO Spatial SDK, so the Gradle build pulls it 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Start the emulator, install the debug APK, launch the app and capture a screenshot. If it crashes, app logcat filtered to errors is the first place to look.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hape 2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exchange is an illustration of the flow, not a captured run. The skill names and commands are real.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Shape 2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in doubt, run doctor first. It checks everything and names the fix for each failure.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812799" y="1851669"/>
            <a:ext cx="10883394" cy="2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pc="100" sz="1400">
                <a:solidFill>
                  <a:srgbClr val="4FC3C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GETTING STARTED · PICO-CLI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812800" y="2354559"/>
            <a:ext cx="9156700" cy="1579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6100"/>
              </a:lnSpc>
              <a:defRPr b="1" sz="6000">
                <a:solidFill>
                  <a:srgbClr val="EEF4F6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Build a PICO Spatial app with Claude, from zero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12800" y="4163019"/>
            <a:ext cx="8175625" cy="66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68095">
              <a:lnSpc>
                <a:spcPts val="2000"/>
              </a:lnSpc>
              <a:defRPr sz="2772">
                <a:solidFill>
                  <a:srgbClr val="BCCBD3"/>
                </a:solidFill>
              </a:defRPr>
            </a:lvl1pPr>
          </a:lstStyle>
          <a:p>
            <a:pPr/>
            <a:r>
              <a:t>Install the CLI, connect it to Claude Code, and get a first Spatial SDK app running on the PICO emulator.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9FB4B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9FB4B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01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812799" y="812799"/>
            <a:ext cx="10883394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WHAT PICO-CLI DOES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812799" y="1348729"/>
            <a:ext cx="10883394" cy="528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900"/>
              </a:lnSpc>
              <a:defRPr b="1" sz="36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One command line for spatial app work</a:t>
            </a:r>
          </a:p>
        </p:txBody>
      </p:sp>
      <p:sp>
        <p:nvSpPr>
          <p:cNvPr id="30" name="Shape 2"/>
          <p:cNvSpPr/>
          <p:nvPr/>
        </p:nvSpPr>
        <p:spPr>
          <a:xfrm>
            <a:off x="815975" y="2159594"/>
            <a:ext cx="3380284" cy="2375496"/>
          </a:xfrm>
          <a:prstGeom prst="roundRect">
            <a:avLst>
              <a:gd name="adj" fmla="val 4143"/>
            </a:avLst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23950" y="2467569"/>
            <a:ext cx="355600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3"/>
          <p:cNvSpPr txBox="1"/>
          <p:nvPr/>
        </p:nvSpPr>
        <p:spPr>
          <a:xfrm>
            <a:off x="1123950" y="2950169"/>
            <a:ext cx="2847264" cy="3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 b="1" sz="2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Create projects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1123950" y="3398441"/>
            <a:ext cx="2847264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Scaffolds a Kotlin app on the PICO Spatial SDK from a planar, volumetric or stage template.</a:t>
            </a:r>
          </a:p>
        </p:txBody>
      </p:sp>
      <p:sp>
        <p:nvSpPr>
          <p:cNvPr id="34" name="Shape 5"/>
          <p:cNvSpPr/>
          <p:nvPr/>
        </p:nvSpPr>
        <p:spPr>
          <a:xfrm>
            <a:off x="4405808" y="2159594"/>
            <a:ext cx="3380334" cy="2375496"/>
          </a:xfrm>
          <a:prstGeom prst="roundRect">
            <a:avLst>
              <a:gd name="adj" fmla="val 4143"/>
            </a:avLst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35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13783" y="2467569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ext 6"/>
          <p:cNvSpPr txBox="1"/>
          <p:nvPr/>
        </p:nvSpPr>
        <p:spPr>
          <a:xfrm>
            <a:off x="4713783" y="2950169"/>
            <a:ext cx="2847316" cy="3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 b="1" sz="2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Run and debug</a:t>
            </a:r>
          </a:p>
        </p:txBody>
      </p:sp>
      <p:sp>
        <p:nvSpPr>
          <p:cNvPr id="37" name="Text 7"/>
          <p:cNvSpPr txBox="1"/>
          <p:nvPr/>
        </p:nvSpPr>
        <p:spPr>
          <a:xfrm>
            <a:off x="4713783" y="3398441"/>
            <a:ext cx="2847316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Starts the PICO emulator, installs and launches apps, and captures screenshots and logs.</a:t>
            </a:r>
          </a:p>
        </p:txBody>
      </p:sp>
      <p:sp>
        <p:nvSpPr>
          <p:cNvPr id="38" name="Shape 8"/>
          <p:cNvSpPr/>
          <p:nvPr/>
        </p:nvSpPr>
        <p:spPr>
          <a:xfrm>
            <a:off x="7995691" y="2159594"/>
            <a:ext cx="3380334" cy="2375496"/>
          </a:xfrm>
          <a:prstGeom prst="roundRect">
            <a:avLst>
              <a:gd name="adj" fmla="val 4143"/>
            </a:avLst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39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03666" y="2467569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9"/>
          <p:cNvSpPr txBox="1"/>
          <p:nvPr/>
        </p:nvSpPr>
        <p:spPr>
          <a:xfrm>
            <a:off x="8303666" y="2950169"/>
            <a:ext cx="2847316" cy="3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 b="1" sz="2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Plug into your agent</a:t>
            </a:r>
          </a:p>
        </p:txBody>
      </p:sp>
      <p:sp>
        <p:nvSpPr>
          <p:cNvPr id="41" name="Text 10"/>
          <p:cNvSpPr txBox="1"/>
          <p:nvPr/>
        </p:nvSpPr>
        <p:spPr>
          <a:xfrm>
            <a:off x="8303666" y="3398441"/>
            <a:ext cx="2847316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Installs PICO skills and the PICO docs server into Claude Code.</a:t>
            </a:r>
          </a:p>
        </p:txBody>
      </p:sp>
      <p:sp>
        <p:nvSpPr>
          <p:cNvPr id="42" name="Text 11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43" name="Text 12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02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812799" y="812799"/>
            <a:ext cx="10883394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BEFORE YOU START</a:t>
            </a:r>
          </a:p>
        </p:txBody>
      </p:sp>
      <p:sp>
        <p:nvSpPr>
          <p:cNvPr id="48" name="Text 1"/>
          <p:cNvSpPr txBox="1"/>
          <p:nvPr/>
        </p:nvSpPr>
        <p:spPr>
          <a:xfrm>
            <a:off x="812799" y="1348729"/>
            <a:ext cx="10883394" cy="528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900"/>
              </a:lnSpc>
              <a:defRPr b="1" sz="36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Three things to have installed</a:t>
            </a:r>
          </a:p>
        </p:txBody>
      </p:sp>
      <p:sp>
        <p:nvSpPr>
          <p:cNvPr id="49" name="Shape 2"/>
          <p:cNvSpPr/>
          <p:nvPr/>
        </p:nvSpPr>
        <p:spPr>
          <a:xfrm>
            <a:off x="815975" y="2159594"/>
            <a:ext cx="10560050" cy="800101"/>
          </a:xfrm>
          <a:prstGeom prst="rect">
            <a:avLst/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" name="Text 3"/>
          <p:cNvSpPr txBox="1"/>
          <p:nvPr/>
        </p:nvSpPr>
        <p:spPr>
          <a:xfrm>
            <a:off x="1098550" y="2391369"/>
            <a:ext cx="3662680" cy="36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b="1" sz="2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Node.js 18+ and npm</a:t>
            </a:r>
          </a:p>
        </p:txBody>
      </p:sp>
      <p:sp>
        <p:nvSpPr>
          <p:cNvPr id="51" name="Text 4"/>
          <p:cNvSpPr txBox="1"/>
          <p:nvPr/>
        </p:nvSpPr>
        <p:spPr>
          <a:xfrm>
            <a:off x="4959349" y="2451694"/>
            <a:ext cx="6318125" cy="30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Used to install pico-cli and Claude Code.</a:t>
            </a:r>
          </a:p>
        </p:txBody>
      </p:sp>
      <p:sp>
        <p:nvSpPr>
          <p:cNvPr id="52" name="Shape 5"/>
          <p:cNvSpPr/>
          <p:nvPr/>
        </p:nvSpPr>
        <p:spPr>
          <a:xfrm>
            <a:off x="812800" y="2962869"/>
            <a:ext cx="10566400" cy="1076326"/>
          </a:xfrm>
          <a:prstGeom prst="rect">
            <a:avLst/>
          </a:prstGeom>
          <a:solidFill>
            <a:srgbClr val="FBFCFC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" name="Shape 6"/>
          <p:cNvSpPr/>
          <p:nvPr/>
        </p:nvSpPr>
        <p:spPr>
          <a:xfrm>
            <a:off x="11376025" y="2962869"/>
            <a:ext cx="0" cy="1076326"/>
          </a:xfrm>
          <a:prstGeom prst="line">
            <a:avLst/>
          </a:prstGeom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" name="Shape 7"/>
          <p:cNvSpPr/>
          <p:nvPr/>
        </p:nvSpPr>
        <p:spPr>
          <a:xfrm>
            <a:off x="812800" y="4036019"/>
            <a:ext cx="10566401" cy="1"/>
          </a:xfrm>
          <a:prstGeom prst="line">
            <a:avLst/>
          </a:prstGeom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" name="Shape 8"/>
          <p:cNvSpPr/>
          <p:nvPr/>
        </p:nvSpPr>
        <p:spPr>
          <a:xfrm flipH="1">
            <a:off x="815975" y="2962869"/>
            <a:ext cx="1" cy="1076326"/>
          </a:xfrm>
          <a:prstGeom prst="line">
            <a:avLst/>
          </a:prstGeom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" name="Text 9"/>
          <p:cNvSpPr txBox="1"/>
          <p:nvPr/>
        </p:nvSpPr>
        <p:spPr>
          <a:xfrm>
            <a:off x="1098550" y="3191469"/>
            <a:ext cx="3662680" cy="36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b="1" sz="2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Android Studio 2025.1+</a:t>
            </a:r>
          </a:p>
        </p:txBody>
      </p:sp>
      <p:sp>
        <p:nvSpPr>
          <p:cNvPr id="57" name="Text 10"/>
          <p:cNvSpPr txBox="1"/>
          <p:nvPr/>
        </p:nvSpPr>
        <p:spPr>
          <a:xfrm>
            <a:off x="4959349" y="3251794"/>
            <a:ext cx="6318125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With Android SDK Platform 35 and its Sources. Gradle pulls in the PICO Spatial SDK through the project template.</a:t>
            </a:r>
          </a:p>
        </p:txBody>
      </p:sp>
      <p:sp>
        <p:nvSpPr>
          <p:cNvPr id="58" name="Shape 11"/>
          <p:cNvSpPr/>
          <p:nvPr/>
        </p:nvSpPr>
        <p:spPr>
          <a:xfrm>
            <a:off x="812800" y="4039194"/>
            <a:ext cx="10566400" cy="800101"/>
          </a:xfrm>
          <a:prstGeom prst="rect">
            <a:avLst/>
          </a:prstGeom>
          <a:solidFill>
            <a:srgbClr val="FBFCFC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" name="Shape 12"/>
          <p:cNvSpPr/>
          <p:nvPr/>
        </p:nvSpPr>
        <p:spPr>
          <a:xfrm>
            <a:off x="11376025" y="4039194"/>
            <a:ext cx="0" cy="800101"/>
          </a:xfrm>
          <a:prstGeom prst="line">
            <a:avLst/>
          </a:prstGeom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0" name="Shape 13"/>
          <p:cNvSpPr/>
          <p:nvPr/>
        </p:nvSpPr>
        <p:spPr>
          <a:xfrm>
            <a:off x="812800" y="4836119"/>
            <a:ext cx="10566401" cy="1"/>
          </a:xfrm>
          <a:prstGeom prst="line">
            <a:avLst/>
          </a:prstGeom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" name="Shape 14"/>
          <p:cNvSpPr/>
          <p:nvPr/>
        </p:nvSpPr>
        <p:spPr>
          <a:xfrm flipH="1">
            <a:off x="815974" y="4039194"/>
            <a:ext cx="1" cy="800101"/>
          </a:xfrm>
          <a:prstGeom prst="line">
            <a:avLst/>
          </a:prstGeom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2" name="Text 15"/>
          <p:cNvSpPr txBox="1"/>
          <p:nvPr/>
        </p:nvSpPr>
        <p:spPr>
          <a:xfrm>
            <a:off x="1098550" y="4267794"/>
            <a:ext cx="3662680" cy="36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b="1" sz="2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An Anthropic account</a:t>
            </a:r>
          </a:p>
        </p:txBody>
      </p:sp>
      <p:sp>
        <p:nvSpPr>
          <p:cNvPr id="63" name="Text 16"/>
          <p:cNvSpPr txBox="1"/>
          <p:nvPr/>
        </p:nvSpPr>
        <p:spPr>
          <a:xfrm>
            <a:off x="4959349" y="4328119"/>
            <a:ext cx="6318125" cy="30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A Claude subscription or an API key, used to sign in to Claude Code.</a:t>
            </a:r>
          </a:p>
        </p:txBody>
      </p:sp>
      <p:sp>
        <p:nvSpPr>
          <p:cNvPr id="64" name="Text 17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65" name="Text 18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03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 txBox="1"/>
          <p:nvPr/>
        </p:nvSpPr>
        <p:spPr>
          <a:xfrm>
            <a:off x="812799" y="1945630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1 OF 7</a:t>
            </a:r>
          </a:p>
        </p:txBody>
      </p:sp>
      <p:sp>
        <p:nvSpPr>
          <p:cNvPr id="70" name="Text 1"/>
          <p:cNvSpPr txBox="1"/>
          <p:nvPr/>
        </p:nvSpPr>
        <p:spPr>
          <a:xfrm>
            <a:off x="812799" y="2354559"/>
            <a:ext cx="4055111" cy="91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500"/>
              </a:lnSpc>
              <a:defRPr b="1" sz="3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Install Claude Code and sign in</a:t>
            </a:r>
          </a:p>
        </p:txBody>
      </p:sp>
      <p:sp>
        <p:nvSpPr>
          <p:cNvPr id="71" name="Text 2"/>
          <p:cNvSpPr txBox="1"/>
          <p:nvPr/>
        </p:nvSpPr>
        <p:spPr>
          <a:xfrm>
            <a:off x="812799" y="3426419"/>
            <a:ext cx="4055111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Claude Code is the agent that pico-cli connects to.</a:t>
            </a:r>
          </a:p>
        </p:txBody>
      </p:sp>
      <p:sp>
        <p:nvSpPr>
          <p:cNvPr id="72" name="Text 3"/>
          <p:cNvSpPr txBox="1"/>
          <p:nvPr/>
        </p:nvSpPr>
        <p:spPr>
          <a:xfrm>
            <a:off x="812799" y="4156669"/>
            <a:ext cx="4055111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4E5F6B"/>
                </a:solidFill>
              </a:defRPr>
            </a:pPr>
            <a:r>
              <a:t>Run </a:t>
            </a:r>
            <a:r>
              <a:rPr>
                <a:solidFill>
                  <a:srgbClr val="0B7A83"/>
                </a:solidFill>
              </a:rPr>
              <a:t>claude</a:t>
            </a:r>
            <a:r>
              <a:t> once, then follow the prompt to sign in with your Anthropic account.</a:t>
            </a:r>
          </a:p>
        </p:txBody>
      </p:sp>
      <p:sp>
        <p:nvSpPr>
          <p:cNvPr id="73" name="Shape 4"/>
          <p:cNvSpPr/>
          <p:nvPr/>
        </p:nvSpPr>
        <p:spPr>
          <a:xfrm>
            <a:off x="5207000" y="2707680"/>
            <a:ext cx="6172200" cy="1239442"/>
          </a:xfrm>
          <a:prstGeom prst="roundRect">
            <a:avLst>
              <a:gd name="adj" fmla="val 7173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" name="Shape 5"/>
          <p:cNvSpPr/>
          <p:nvPr/>
        </p:nvSpPr>
        <p:spPr>
          <a:xfrm>
            <a:off x="5207000" y="2707680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7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2871490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2871490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2871490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6"/>
          <p:cNvSpPr txBox="1"/>
          <p:nvPr/>
        </p:nvSpPr>
        <p:spPr>
          <a:xfrm>
            <a:off x="5880100" y="2809280"/>
            <a:ext cx="32514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zsh</a:t>
            </a:r>
          </a:p>
        </p:txBody>
      </p:sp>
      <p:sp>
        <p:nvSpPr>
          <p:cNvPr id="79" name="Text 7"/>
          <p:cNvSpPr txBox="1"/>
          <p:nvPr/>
        </p:nvSpPr>
        <p:spPr>
          <a:xfrm>
            <a:off x="5410200" y="3301999"/>
            <a:ext cx="2912096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npm install -g @anthropic-ai/claude-code</a:t>
            </a:r>
          </a:p>
        </p:txBody>
      </p:sp>
      <p:sp>
        <p:nvSpPr>
          <p:cNvPr id="80" name="Text 8"/>
          <p:cNvSpPr txBox="1"/>
          <p:nvPr/>
        </p:nvSpPr>
        <p:spPr>
          <a:xfrm>
            <a:off x="5410200" y="3522960"/>
            <a:ext cx="2155900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claude</a:t>
            </a:r>
            <a:r>
              <a:rPr>
                <a:solidFill>
                  <a:srgbClr val="8499A6"/>
                </a:solidFill>
              </a:rPr>
              <a:t>  # first run signs you in</a:t>
            </a:r>
          </a:p>
        </p:txBody>
      </p:sp>
      <p:sp>
        <p:nvSpPr>
          <p:cNvPr id="81" name="Text 9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82" name="Text 10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04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812799" y="2334915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2 OF 7</a:t>
            </a:r>
          </a:p>
        </p:txBody>
      </p:sp>
      <p:sp>
        <p:nvSpPr>
          <p:cNvPr id="87" name="Text 1"/>
          <p:cNvSpPr txBox="1"/>
          <p:nvPr/>
        </p:nvSpPr>
        <p:spPr>
          <a:xfrm>
            <a:off x="812799" y="2743844"/>
            <a:ext cx="4055111" cy="472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500"/>
              </a:lnSpc>
              <a:defRPr b="1" sz="3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Install pico-cli</a:t>
            </a:r>
          </a:p>
        </p:txBody>
      </p:sp>
      <p:sp>
        <p:nvSpPr>
          <p:cNvPr id="88" name="Text 2"/>
          <p:cNvSpPr txBox="1"/>
          <p:nvPr/>
        </p:nvSpPr>
        <p:spPr>
          <a:xfrm>
            <a:off x="812799" y="3368675"/>
            <a:ext cx="4055111" cy="577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Install it globally from npm, then run --help to list the command families.</a:t>
            </a:r>
          </a:p>
        </p:txBody>
      </p:sp>
      <p:sp>
        <p:nvSpPr>
          <p:cNvPr id="89" name="Text 3"/>
          <p:cNvSpPr txBox="1"/>
          <p:nvPr/>
        </p:nvSpPr>
        <p:spPr>
          <a:xfrm>
            <a:off x="812799" y="4098924"/>
            <a:ext cx="4055111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Real output · pico-cli 0.4.2 · 0.5.0 is out</a:t>
            </a:r>
          </a:p>
        </p:txBody>
      </p:sp>
      <p:sp>
        <p:nvSpPr>
          <p:cNvPr id="90" name="Shape 4"/>
          <p:cNvSpPr/>
          <p:nvPr/>
        </p:nvSpPr>
        <p:spPr>
          <a:xfrm>
            <a:off x="5207000" y="1492399"/>
            <a:ext cx="6172200" cy="3670002"/>
          </a:xfrm>
          <a:prstGeom prst="roundRect">
            <a:avLst>
              <a:gd name="adj" fmla="val 2422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" name="Shape 5"/>
          <p:cNvSpPr/>
          <p:nvPr/>
        </p:nvSpPr>
        <p:spPr>
          <a:xfrm>
            <a:off x="5207000" y="1492399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1656208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1656208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1656208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6"/>
          <p:cNvSpPr txBox="1"/>
          <p:nvPr/>
        </p:nvSpPr>
        <p:spPr>
          <a:xfrm>
            <a:off x="5880100" y="1593999"/>
            <a:ext cx="14224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pico-cli --help</a:t>
            </a:r>
          </a:p>
        </p:txBody>
      </p:sp>
      <p:sp>
        <p:nvSpPr>
          <p:cNvPr id="96" name="Text 7"/>
          <p:cNvSpPr txBox="1"/>
          <p:nvPr/>
        </p:nvSpPr>
        <p:spPr>
          <a:xfrm>
            <a:off x="5410200" y="2086718"/>
            <a:ext cx="2166243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npm install -g @picoxr/pico-cli</a:t>
            </a:r>
          </a:p>
        </p:txBody>
      </p:sp>
      <p:sp>
        <p:nvSpPr>
          <p:cNvPr id="97" name="Text 8"/>
          <p:cNvSpPr txBox="1"/>
          <p:nvPr/>
        </p:nvSpPr>
        <p:spPr>
          <a:xfrm>
            <a:off x="5410200" y="2307678"/>
            <a:ext cx="1046014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--help</a:t>
            </a:r>
          </a:p>
        </p:txBody>
      </p:sp>
      <p:sp>
        <p:nvSpPr>
          <p:cNvPr id="98" name="Text 9"/>
          <p:cNvSpPr txBox="1"/>
          <p:nvPr/>
        </p:nvSpPr>
        <p:spPr>
          <a:xfrm>
            <a:off x="5410200" y="2528639"/>
            <a:ext cx="834232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Commands:</a:t>
            </a:r>
          </a:p>
        </p:txBody>
      </p:sp>
      <p:sp>
        <p:nvSpPr>
          <p:cNvPr id="99" name="Text 10"/>
          <p:cNvSpPr txBox="1"/>
          <p:nvPr/>
        </p:nvSpPr>
        <p:spPr>
          <a:xfrm>
            <a:off x="5410200" y="2749599"/>
            <a:ext cx="2613323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setup     AI tool integrations and skills</a:t>
            </a:r>
          </a:p>
        </p:txBody>
      </p:sp>
      <p:sp>
        <p:nvSpPr>
          <p:cNvPr id="100" name="Text 11"/>
          <p:cNvSpPr txBox="1"/>
          <p:nvPr/>
        </p:nvSpPr>
        <p:spPr>
          <a:xfrm>
            <a:off x="5410200" y="2970559"/>
            <a:ext cx="3197920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project   Create and bootstrap Spatial projects</a:t>
            </a:r>
          </a:p>
        </p:txBody>
      </p:sp>
      <p:sp>
        <p:nvSpPr>
          <p:cNvPr id="101" name="Text 12"/>
          <p:cNvSpPr txBox="1"/>
          <p:nvPr/>
        </p:nvSpPr>
        <p:spPr>
          <a:xfrm>
            <a:off x="5410200" y="3191519"/>
            <a:ext cx="3070598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emulator  Emulator lifecycle and diagnostics</a:t>
            </a:r>
          </a:p>
        </p:txBody>
      </p:sp>
      <p:sp>
        <p:nvSpPr>
          <p:cNvPr id="102" name="Text 13"/>
          <p:cNvSpPr txBox="1"/>
          <p:nvPr/>
        </p:nvSpPr>
        <p:spPr>
          <a:xfrm>
            <a:off x="5410200" y="3412480"/>
            <a:ext cx="3036888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device    Device connectivity and inspection</a:t>
            </a:r>
          </a:p>
        </p:txBody>
      </p:sp>
      <p:sp>
        <p:nvSpPr>
          <p:cNvPr id="103" name="Text 14"/>
          <p:cNvSpPr txBox="1"/>
          <p:nvPr/>
        </p:nvSpPr>
        <p:spPr>
          <a:xfrm>
            <a:off x="5410200" y="3633439"/>
            <a:ext cx="2816920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app       Install, launch, and inspect apps</a:t>
            </a:r>
          </a:p>
        </p:txBody>
      </p:sp>
      <p:sp>
        <p:nvSpPr>
          <p:cNvPr id="104" name="Text 15"/>
          <p:cNvSpPr txBox="1"/>
          <p:nvPr/>
        </p:nvSpPr>
        <p:spPr>
          <a:xfrm>
            <a:off x="5410200" y="3854399"/>
            <a:ext cx="2630364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capture   Screenshots and recordings</a:t>
            </a:r>
          </a:p>
        </p:txBody>
      </p:sp>
      <p:sp>
        <p:nvSpPr>
          <p:cNvPr id="105" name="Text 16"/>
          <p:cNvSpPr txBox="1"/>
          <p:nvPr/>
        </p:nvSpPr>
        <p:spPr>
          <a:xfrm>
            <a:off x="5410200" y="4075360"/>
            <a:ext cx="2604766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log       Logcat from the current target</a:t>
            </a:r>
          </a:p>
        </p:txBody>
      </p:sp>
      <p:sp>
        <p:nvSpPr>
          <p:cNvPr id="106" name="Text 17"/>
          <p:cNvSpPr txBox="1"/>
          <p:nvPr/>
        </p:nvSpPr>
        <p:spPr>
          <a:xfrm>
            <a:off x="5410200" y="4296321"/>
            <a:ext cx="2985989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doctor    Top-level environment diagnostics</a:t>
            </a:r>
          </a:p>
        </p:txBody>
      </p:sp>
      <p:sp>
        <p:nvSpPr>
          <p:cNvPr id="107" name="Text 18"/>
          <p:cNvSpPr txBox="1"/>
          <p:nvPr/>
        </p:nvSpPr>
        <p:spPr>
          <a:xfrm>
            <a:off x="5410200" y="4517280"/>
            <a:ext cx="2698304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update    Check for and install updates</a:t>
            </a:r>
          </a:p>
        </p:txBody>
      </p:sp>
      <p:sp>
        <p:nvSpPr>
          <p:cNvPr id="108" name="Text 19"/>
          <p:cNvSpPr txBox="1"/>
          <p:nvPr/>
        </p:nvSpPr>
        <p:spPr>
          <a:xfrm>
            <a:off x="5410200" y="4738241"/>
            <a:ext cx="1994645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perf      Performance utilities</a:t>
            </a:r>
          </a:p>
        </p:txBody>
      </p:sp>
      <p:sp>
        <p:nvSpPr>
          <p:cNvPr id="109" name="Text 20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110" name="Text 21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05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812799" y="1807517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3 OF 7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812799" y="2216448"/>
            <a:ext cx="4055111" cy="91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500"/>
              </a:lnSpc>
              <a:defRPr b="1" sz="3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Connect pico-cli to Claude</a:t>
            </a:r>
          </a:p>
        </p:txBody>
      </p:sp>
      <p:sp>
        <p:nvSpPr>
          <p:cNvPr id="116" name="Text 2"/>
          <p:cNvSpPr txBox="1"/>
          <p:nvPr/>
        </p:nvSpPr>
        <p:spPr>
          <a:xfrm>
            <a:off x="812799" y="3288307"/>
            <a:ext cx="4055111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setup installs the pico-spatial-agentic-tools plugin: PICO skills plus the pico-dev-knowledge docs server.</a:t>
            </a:r>
          </a:p>
        </p:txBody>
      </p:sp>
      <p:sp>
        <p:nvSpPr>
          <p:cNvPr id="117" name="Text 3"/>
          <p:cNvSpPr txBox="1"/>
          <p:nvPr/>
        </p:nvSpPr>
        <p:spPr>
          <a:xfrm>
            <a:off x="812799" y="4294782"/>
            <a:ext cx="4055111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Restart Claude Code afterwards so it loads them.</a:t>
            </a:r>
          </a:p>
        </p:txBody>
      </p:sp>
      <p:sp>
        <p:nvSpPr>
          <p:cNvPr id="118" name="Shape 4"/>
          <p:cNvSpPr/>
          <p:nvPr/>
        </p:nvSpPr>
        <p:spPr>
          <a:xfrm>
            <a:off x="5207000" y="2376239"/>
            <a:ext cx="6172200" cy="1902322"/>
          </a:xfrm>
          <a:prstGeom prst="roundRect">
            <a:avLst>
              <a:gd name="adj" fmla="val 4673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9" name="Shape 5"/>
          <p:cNvSpPr/>
          <p:nvPr/>
        </p:nvSpPr>
        <p:spPr>
          <a:xfrm>
            <a:off x="5207000" y="2376239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2540049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2540049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2540049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6"/>
          <p:cNvSpPr txBox="1"/>
          <p:nvPr/>
        </p:nvSpPr>
        <p:spPr>
          <a:xfrm>
            <a:off x="5880100" y="2477839"/>
            <a:ext cx="32514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zsh</a:t>
            </a:r>
          </a:p>
        </p:txBody>
      </p:sp>
      <p:sp>
        <p:nvSpPr>
          <p:cNvPr id="124" name="Text 7"/>
          <p:cNvSpPr txBox="1"/>
          <p:nvPr/>
        </p:nvSpPr>
        <p:spPr>
          <a:xfrm>
            <a:off x="5410200" y="2970559"/>
            <a:ext cx="2376091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setup --tool claude-code \</a:t>
            </a:r>
          </a:p>
        </p:txBody>
      </p:sp>
      <p:sp>
        <p:nvSpPr>
          <p:cNvPr id="125" name="Text 8"/>
          <p:cNvSpPr txBox="1"/>
          <p:nvPr/>
        </p:nvSpPr>
        <p:spPr>
          <a:xfrm>
            <a:off x="5410200" y="3191519"/>
            <a:ext cx="1316956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  --platform spatial</a:t>
            </a:r>
          </a:p>
        </p:txBody>
      </p:sp>
      <p:sp>
        <p:nvSpPr>
          <p:cNvPr id="126" name="Text 9"/>
          <p:cNvSpPr txBox="1"/>
          <p:nvPr/>
        </p:nvSpPr>
        <p:spPr>
          <a:xfrm>
            <a:off x="5410200" y="3633439"/>
            <a:ext cx="3195092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--tool  claude-code | cursor | codex | copilot | all</a:t>
            </a:r>
          </a:p>
        </p:txBody>
      </p:sp>
      <p:sp>
        <p:nvSpPr>
          <p:cNvPr id="127" name="Text 10"/>
          <p:cNvSpPr txBox="1"/>
          <p:nvPr/>
        </p:nvSpPr>
        <p:spPr>
          <a:xfrm>
            <a:off x="5410200" y="3854399"/>
            <a:ext cx="3087787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-y      accept the setup plan without prompting</a:t>
            </a:r>
          </a:p>
        </p:txBody>
      </p:sp>
      <p:sp>
        <p:nvSpPr>
          <p:cNvPr id="128" name="Text 11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129" name="Text 12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06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812799" y="1608137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4 OF 7</a:t>
            </a:r>
          </a:p>
        </p:txBody>
      </p:sp>
      <p:sp>
        <p:nvSpPr>
          <p:cNvPr id="134" name="Text 1"/>
          <p:cNvSpPr txBox="1"/>
          <p:nvPr/>
        </p:nvSpPr>
        <p:spPr>
          <a:xfrm>
            <a:off x="812799" y="2017067"/>
            <a:ext cx="4055111" cy="91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500"/>
              </a:lnSpc>
              <a:defRPr b="1" sz="3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Run the doctor and fix what it flags</a:t>
            </a:r>
          </a:p>
        </p:txBody>
      </p:sp>
      <p:sp>
        <p:nvSpPr>
          <p:cNvPr id="135" name="Text 2"/>
          <p:cNvSpPr txBox="1"/>
          <p:nvPr/>
        </p:nvSpPr>
        <p:spPr>
          <a:xfrm>
            <a:off x="812799" y="3088927"/>
            <a:ext cx="4055111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Each failed check prints the command that fixes it.</a:t>
            </a:r>
          </a:p>
        </p:txBody>
      </p:sp>
      <p:sp>
        <p:nvSpPr>
          <p:cNvPr id="136" name="Text 3"/>
          <p:cNvSpPr txBox="1"/>
          <p:nvPr/>
        </p:nvSpPr>
        <p:spPr>
          <a:xfrm>
            <a:off x="812799" y="3819178"/>
            <a:ext cx="4055111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The most common gap is Android SDK Platform 35. Install it from Android Studio's SDK Manager.</a:t>
            </a:r>
          </a:p>
        </p:txBody>
      </p:sp>
      <p:sp>
        <p:nvSpPr>
          <p:cNvPr id="137" name="Text 4"/>
          <p:cNvSpPr txBox="1"/>
          <p:nvPr/>
        </p:nvSpPr>
        <p:spPr>
          <a:xfrm>
            <a:off x="812799" y="4825653"/>
            <a:ext cx="4055111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Real output · a Mac mid-setup</a:t>
            </a:r>
          </a:p>
        </p:txBody>
      </p:sp>
      <p:sp>
        <p:nvSpPr>
          <p:cNvPr id="138" name="Shape 5"/>
          <p:cNvSpPr/>
          <p:nvPr/>
        </p:nvSpPr>
        <p:spPr>
          <a:xfrm>
            <a:off x="5207000" y="1934318"/>
            <a:ext cx="6172200" cy="2786163"/>
          </a:xfrm>
          <a:prstGeom prst="roundRect">
            <a:avLst>
              <a:gd name="adj" fmla="val 3191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9" name="Shape 6"/>
          <p:cNvSpPr/>
          <p:nvPr/>
        </p:nvSpPr>
        <p:spPr>
          <a:xfrm>
            <a:off x="5207000" y="1934318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4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2098128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2098128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2098128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 7"/>
          <p:cNvSpPr txBox="1"/>
          <p:nvPr/>
        </p:nvSpPr>
        <p:spPr>
          <a:xfrm>
            <a:off x="5880100" y="2035918"/>
            <a:ext cx="2260407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pico-cli emulator doctor</a:t>
            </a:r>
          </a:p>
        </p:txBody>
      </p:sp>
      <p:sp>
        <p:nvSpPr>
          <p:cNvPr id="144" name="Text 8"/>
          <p:cNvSpPr txBox="1"/>
          <p:nvPr/>
        </p:nvSpPr>
        <p:spPr>
          <a:xfrm>
            <a:off x="5410200" y="2528639"/>
            <a:ext cx="1715220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emulator doctor</a:t>
            </a:r>
          </a:p>
        </p:txBody>
      </p:sp>
      <p:sp>
        <p:nvSpPr>
          <p:cNvPr id="145" name="Text 9"/>
          <p:cNvSpPr txBox="1"/>
          <p:nvPr/>
        </p:nvSpPr>
        <p:spPr>
          <a:xfrm>
            <a:off x="5410200" y="2749599"/>
            <a:ext cx="1520404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Emulator Environment</a:t>
            </a:r>
          </a:p>
        </p:txBody>
      </p:sp>
      <p:sp>
        <p:nvSpPr>
          <p:cNvPr id="146" name="Text 10"/>
          <p:cNvSpPr txBox="1"/>
          <p:nvPr/>
        </p:nvSpPr>
        <p:spPr>
          <a:xfrm>
            <a:off x="5410200" y="2970559"/>
            <a:ext cx="2774578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- </a:t>
            </a:r>
            <a:r>
              <a:rPr>
                <a:solidFill>
                  <a:srgbClr val="3FB68B"/>
                </a:solidFill>
              </a:rPr>
              <a:t>[ok]</a:t>
            </a:r>
            <a:r>
              <a:t>    Android Studio 2025.1.x detected</a:t>
            </a:r>
          </a:p>
        </p:txBody>
      </p:sp>
      <p:sp>
        <p:nvSpPr>
          <p:cNvPr id="147" name="Text 11"/>
          <p:cNvSpPr txBox="1"/>
          <p:nvPr/>
        </p:nvSpPr>
        <p:spPr>
          <a:xfrm>
            <a:off x="5410200" y="3191519"/>
            <a:ext cx="2816102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- </a:t>
            </a:r>
            <a:r>
              <a:rPr>
                <a:solidFill>
                  <a:srgbClr val="F0776B"/>
                </a:solidFill>
              </a:rPr>
              <a:t>[error]</a:t>
            </a:r>
            <a:r>
              <a:t> Android SDK Platform 35 missing</a:t>
            </a:r>
          </a:p>
        </p:txBody>
      </p:sp>
      <p:sp>
        <p:nvSpPr>
          <p:cNvPr id="148" name="Text 12"/>
          <p:cNvSpPr txBox="1"/>
          <p:nvPr/>
        </p:nvSpPr>
        <p:spPr>
          <a:xfrm>
            <a:off x="5410200" y="3412480"/>
            <a:ext cx="3214291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      Fix: pico-cli emulator setup --launch-studio</a:t>
            </a:r>
          </a:p>
        </p:txBody>
      </p:sp>
      <p:sp>
        <p:nvSpPr>
          <p:cNvPr id="149" name="Text 13"/>
          <p:cNvSpPr txBox="1"/>
          <p:nvPr/>
        </p:nvSpPr>
        <p:spPr>
          <a:xfrm>
            <a:off x="5410200" y="3633439"/>
            <a:ext cx="2875484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- </a:t>
            </a:r>
            <a:r>
              <a:rPr>
                <a:solidFill>
                  <a:srgbClr val="3FB68B"/>
                </a:solidFill>
              </a:rPr>
              <a:t>[ok]</a:t>
            </a:r>
            <a:r>
              <a:t>    Primer SDK diagnostics completed</a:t>
            </a:r>
          </a:p>
        </p:txBody>
      </p:sp>
      <p:sp>
        <p:nvSpPr>
          <p:cNvPr id="150" name="Text 14"/>
          <p:cNvSpPr txBox="1"/>
          <p:nvPr/>
        </p:nvSpPr>
        <p:spPr>
          <a:xfrm>
            <a:off x="5410200" y="3854399"/>
            <a:ext cx="2494707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- </a:t>
            </a:r>
            <a:r>
              <a:rPr>
                <a:solidFill>
                  <a:srgbClr val="3FB68B"/>
                </a:solidFill>
              </a:rPr>
              <a:t>[ok]</a:t>
            </a:r>
            <a:r>
              <a:t>    PICO Spatial Plugin detected</a:t>
            </a:r>
          </a:p>
        </p:txBody>
      </p:sp>
      <p:sp>
        <p:nvSpPr>
          <p:cNvPr id="151" name="Text 15"/>
          <p:cNvSpPr txBox="1"/>
          <p:nvPr/>
        </p:nvSpPr>
        <p:spPr>
          <a:xfrm>
            <a:off x="5410200" y="4075360"/>
            <a:ext cx="2341861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- </a:t>
            </a:r>
            <a:r>
              <a:rPr>
                <a:solidFill>
                  <a:srgbClr val="3FB68B"/>
                </a:solidFill>
              </a:rPr>
              <a:t>[ok]</a:t>
            </a:r>
            <a:r>
              <a:t>    PICO Emulator is available</a:t>
            </a:r>
          </a:p>
        </p:txBody>
      </p:sp>
      <p:sp>
        <p:nvSpPr>
          <p:cNvPr id="152" name="Text 16"/>
          <p:cNvSpPr txBox="1"/>
          <p:nvPr/>
        </p:nvSpPr>
        <p:spPr>
          <a:xfrm>
            <a:off x="5410200" y="4296321"/>
            <a:ext cx="3096196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E3B34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pico-cli 0.5.0 is available. Run: pico-cli update</a:t>
            </a:r>
          </a:p>
        </p:txBody>
      </p:sp>
      <p:sp>
        <p:nvSpPr>
          <p:cNvPr id="153" name="Text 17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154" name="Text 18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07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 txBox="1"/>
          <p:nvPr/>
        </p:nvSpPr>
        <p:spPr>
          <a:xfrm>
            <a:off x="812799" y="1994842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5 OF 7</a:t>
            </a:r>
          </a:p>
        </p:txBody>
      </p:sp>
      <p:sp>
        <p:nvSpPr>
          <p:cNvPr id="159" name="Text 1"/>
          <p:cNvSpPr txBox="1"/>
          <p:nvPr/>
        </p:nvSpPr>
        <p:spPr>
          <a:xfrm>
            <a:off x="812799" y="2403773"/>
            <a:ext cx="4055111" cy="91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500"/>
              </a:lnSpc>
              <a:defRPr b="1" sz="32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Create a Spatial SDK project</a:t>
            </a:r>
          </a:p>
        </p:txBody>
      </p:sp>
      <p:sp>
        <p:nvSpPr>
          <p:cNvPr id="160" name="Text 2"/>
          <p:cNvSpPr txBox="1"/>
          <p:nvPr/>
        </p:nvSpPr>
        <p:spPr>
          <a:xfrm>
            <a:off x="812799" y="3475632"/>
            <a:ext cx="4055111" cy="30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/>
            </a:pPr>
            <a:r>
              <a:t>planar</a:t>
            </a:r>
            <a:r>
              <a:rPr>
                <a:solidFill>
                  <a:srgbClr val="4E5F6B"/>
                </a:solidFill>
              </a:rPr>
              <a:t>: panel-first, mostly 2D UI</a:t>
            </a:r>
          </a:p>
        </p:txBody>
      </p:sp>
      <p:sp>
        <p:nvSpPr>
          <p:cNvPr id="161" name="Text 3"/>
          <p:cNvSpPr txBox="1"/>
          <p:nvPr/>
        </p:nvSpPr>
        <p:spPr>
          <a:xfrm>
            <a:off x="812799" y="3929657"/>
            <a:ext cx="4055111" cy="30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/>
            </a:pPr>
            <a:r>
              <a:t>volumetric</a:t>
            </a:r>
            <a:r>
              <a:rPr>
                <a:solidFill>
                  <a:srgbClr val="4E5F6B"/>
                </a:solidFill>
              </a:rPr>
              <a:t>: 3D models and showcases</a:t>
            </a:r>
          </a:p>
        </p:txBody>
      </p:sp>
      <p:sp>
        <p:nvSpPr>
          <p:cNvPr id="162" name="Text 4"/>
          <p:cNvSpPr txBox="1"/>
          <p:nvPr/>
        </p:nvSpPr>
        <p:spPr>
          <a:xfrm>
            <a:off x="812799" y="4383682"/>
            <a:ext cx="4055111" cy="30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/>
            </a:pPr>
            <a:r>
              <a:t>stage</a:t>
            </a:r>
            <a:r>
              <a:rPr>
                <a:solidFill>
                  <a:srgbClr val="4E5F6B"/>
                </a:solidFill>
              </a:rPr>
              <a:t>: immersive, room-scale experiences</a:t>
            </a:r>
          </a:p>
        </p:txBody>
      </p:sp>
      <p:sp>
        <p:nvSpPr>
          <p:cNvPr id="163" name="Shape 5"/>
          <p:cNvSpPr/>
          <p:nvPr/>
        </p:nvSpPr>
        <p:spPr>
          <a:xfrm>
            <a:off x="5207000" y="2265758"/>
            <a:ext cx="6172200" cy="2123283"/>
          </a:xfrm>
          <a:prstGeom prst="roundRect">
            <a:avLst>
              <a:gd name="adj" fmla="val 4187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" name="Shape 6"/>
          <p:cNvSpPr/>
          <p:nvPr/>
        </p:nvSpPr>
        <p:spPr>
          <a:xfrm>
            <a:off x="5207000" y="2265758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6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2429569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2429569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2429569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ext 7"/>
          <p:cNvSpPr txBox="1"/>
          <p:nvPr/>
        </p:nvSpPr>
        <p:spPr>
          <a:xfrm>
            <a:off x="5880100" y="2367358"/>
            <a:ext cx="32514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zsh</a:t>
            </a:r>
          </a:p>
        </p:txBody>
      </p:sp>
      <p:sp>
        <p:nvSpPr>
          <p:cNvPr id="169" name="Text 8"/>
          <p:cNvSpPr txBox="1"/>
          <p:nvPr/>
        </p:nvSpPr>
        <p:spPr>
          <a:xfrm>
            <a:off x="5410200" y="2860080"/>
            <a:ext cx="1664395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project create \</a:t>
            </a:r>
          </a:p>
        </p:txBody>
      </p:sp>
      <p:sp>
        <p:nvSpPr>
          <p:cNvPr id="170" name="Text 9"/>
          <p:cNvSpPr txBox="1"/>
          <p:nvPr/>
        </p:nvSpPr>
        <p:spPr>
          <a:xfrm>
            <a:off x="5410200" y="3081040"/>
            <a:ext cx="1689547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  --template volumetric \</a:t>
            </a:r>
          </a:p>
        </p:txBody>
      </p:sp>
      <p:sp>
        <p:nvSpPr>
          <p:cNvPr id="171" name="Text 10"/>
          <p:cNvSpPr txBox="1"/>
          <p:nvPr/>
        </p:nvSpPr>
        <p:spPr>
          <a:xfrm>
            <a:off x="5410200" y="3301999"/>
            <a:ext cx="1909813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  --name demo --dir demo \</a:t>
            </a:r>
          </a:p>
        </p:txBody>
      </p:sp>
      <p:sp>
        <p:nvSpPr>
          <p:cNvPr id="172" name="Text 11"/>
          <p:cNvSpPr txBox="1"/>
          <p:nvPr/>
        </p:nvSpPr>
        <p:spPr>
          <a:xfrm>
            <a:off x="5410200" y="3522960"/>
            <a:ext cx="2231951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  --package com.example.demo</a:t>
            </a:r>
          </a:p>
        </p:txBody>
      </p:sp>
      <p:sp>
        <p:nvSpPr>
          <p:cNvPr id="173" name="Text 12"/>
          <p:cNvSpPr txBox="1"/>
          <p:nvPr/>
        </p:nvSpPr>
        <p:spPr>
          <a:xfrm>
            <a:off x="5410200" y="3964880"/>
            <a:ext cx="2774355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cd demo &amp;&amp; ./gradlew assembleDebug</a:t>
            </a:r>
          </a:p>
        </p:txBody>
      </p:sp>
      <p:sp>
        <p:nvSpPr>
          <p:cNvPr id="174" name="Text 13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175" name="Text 14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08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 txBox="1"/>
          <p:nvPr/>
        </p:nvSpPr>
        <p:spPr>
          <a:xfrm>
            <a:off x="812799" y="2169169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6 OF 7</a:t>
            </a:r>
          </a:p>
        </p:txBody>
      </p:sp>
      <p:sp>
        <p:nvSpPr>
          <p:cNvPr id="180" name="Text 1"/>
          <p:cNvSpPr txBox="1"/>
          <p:nvPr/>
        </p:nvSpPr>
        <p:spPr>
          <a:xfrm>
            <a:off x="812799" y="2578099"/>
            <a:ext cx="4055111" cy="472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59536">
              <a:lnSpc>
                <a:spcPts val="3200"/>
              </a:lnSpc>
              <a:defRPr b="1" sz="3008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Run it on the emulator</a:t>
            </a:r>
          </a:p>
        </p:txBody>
      </p:sp>
      <p:sp>
        <p:nvSpPr>
          <p:cNvPr id="181" name="Text 2"/>
          <p:cNvSpPr txBox="1"/>
          <p:nvPr/>
        </p:nvSpPr>
        <p:spPr>
          <a:xfrm>
            <a:off x="812799" y="3202930"/>
            <a:ext cx="4055111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4E5F6B"/>
                </a:solidFill>
              </a:defRPr>
            </a:lvl1pPr>
          </a:lstStyle>
          <a:p>
            <a:pPr/>
            <a:r>
              <a:t>The first emulator start downloads the emulator.</a:t>
            </a:r>
          </a:p>
        </p:txBody>
      </p:sp>
      <p:sp>
        <p:nvSpPr>
          <p:cNvPr id="182" name="Text 3"/>
          <p:cNvSpPr txBox="1"/>
          <p:nvPr/>
        </p:nvSpPr>
        <p:spPr>
          <a:xfrm>
            <a:off x="812799" y="3933180"/>
            <a:ext cx="4055111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500">
                <a:solidFill>
                  <a:srgbClr val="4E5F6B"/>
                </a:solidFill>
              </a:defRPr>
            </a:pPr>
            <a:r>
              <a:t>Add </a:t>
            </a:r>
            <a:r>
              <a:rPr>
                <a:solidFill>
                  <a:srgbClr val="0B7A83"/>
                </a:solidFill>
              </a:rPr>
              <a:t>-d &lt;id&gt;</a:t>
            </a:r>
            <a:r>
              <a:t> to target a headset, and </a:t>
            </a:r>
            <a:r>
              <a:rPr>
                <a:solidFill>
                  <a:srgbClr val="0B7A83"/>
                </a:solidFill>
              </a:rPr>
              <a:t>--format json</a:t>
            </a:r>
            <a:r>
              <a:t> for output a script can parse.</a:t>
            </a:r>
          </a:p>
        </p:txBody>
      </p:sp>
      <p:sp>
        <p:nvSpPr>
          <p:cNvPr id="183" name="Shape 4"/>
          <p:cNvSpPr/>
          <p:nvPr/>
        </p:nvSpPr>
        <p:spPr>
          <a:xfrm>
            <a:off x="5207000" y="2265758"/>
            <a:ext cx="6172200" cy="2123283"/>
          </a:xfrm>
          <a:prstGeom prst="roundRect">
            <a:avLst>
              <a:gd name="adj" fmla="val 4187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4" name="Shape 5"/>
          <p:cNvSpPr/>
          <p:nvPr/>
        </p:nvSpPr>
        <p:spPr>
          <a:xfrm>
            <a:off x="5207000" y="2265758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8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2429569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2429569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2429569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 6"/>
          <p:cNvSpPr txBox="1"/>
          <p:nvPr/>
        </p:nvSpPr>
        <p:spPr>
          <a:xfrm>
            <a:off x="5880100" y="2367358"/>
            <a:ext cx="32514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zsh</a:t>
            </a:r>
          </a:p>
        </p:txBody>
      </p:sp>
      <p:sp>
        <p:nvSpPr>
          <p:cNvPr id="189" name="Text 7"/>
          <p:cNvSpPr txBox="1"/>
          <p:nvPr/>
        </p:nvSpPr>
        <p:spPr>
          <a:xfrm>
            <a:off x="5410200" y="2860080"/>
            <a:ext cx="1588046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emulator start</a:t>
            </a:r>
          </a:p>
        </p:txBody>
      </p:sp>
      <p:sp>
        <p:nvSpPr>
          <p:cNvPr id="190" name="Text 8"/>
          <p:cNvSpPr txBox="1"/>
          <p:nvPr/>
        </p:nvSpPr>
        <p:spPr>
          <a:xfrm>
            <a:off x="5410200" y="3081040"/>
            <a:ext cx="1427312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app install \</a:t>
            </a:r>
          </a:p>
        </p:txBody>
      </p:sp>
      <p:sp>
        <p:nvSpPr>
          <p:cNvPr id="191" name="Text 9"/>
          <p:cNvSpPr txBox="1"/>
          <p:nvPr/>
        </p:nvSpPr>
        <p:spPr>
          <a:xfrm>
            <a:off x="5410200" y="3301999"/>
            <a:ext cx="3156323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  app/build/outputs/apk/debug/app-debug.apk</a:t>
            </a:r>
          </a:p>
        </p:txBody>
      </p:sp>
      <p:sp>
        <p:nvSpPr>
          <p:cNvPr id="192" name="Text 10"/>
          <p:cNvSpPr txBox="1"/>
          <p:nvPr/>
        </p:nvSpPr>
        <p:spPr>
          <a:xfrm>
            <a:off x="5410200" y="3522960"/>
            <a:ext cx="2774281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app launch com.example.demo</a:t>
            </a:r>
          </a:p>
        </p:txBody>
      </p:sp>
      <p:sp>
        <p:nvSpPr>
          <p:cNvPr id="193" name="Text 11"/>
          <p:cNvSpPr txBox="1"/>
          <p:nvPr/>
        </p:nvSpPr>
        <p:spPr>
          <a:xfrm>
            <a:off x="5410200" y="3743919"/>
            <a:ext cx="2935238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capture screenshot --out shot.png</a:t>
            </a:r>
          </a:p>
        </p:txBody>
      </p:sp>
      <p:sp>
        <p:nvSpPr>
          <p:cNvPr id="194" name="Text 12"/>
          <p:cNvSpPr txBox="1"/>
          <p:nvPr/>
        </p:nvSpPr>
        <p:spPr>
          <a:xfrm>
            <a:off x="5410200" y="3964880"/>
            <a:ext cx="2867224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pico-cli app logcat --level E</a:t>
            </a:r>
            <a:r>
              <a:rPr>
                <a:solidFill>
                  <a:srgbClr val="8499A6"/>
                </a:solidFill>
              </a:rPr>
              <a:t>  # if it breaks</a:t>
            </a:r>
          </a:p>
        </p:txBody>
      </p:sp>
      <p:sp>
        <p:nvSpPr>
          <p:cNvPr id="195" name="Text 13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196" name="Text 14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09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5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 txBox="1"/>
          <p:nvPr/>
        </p:nvSpPr>
        <p:spPr>
          <a:xfrm>
            <a:off x="812799" y="2116782"/>
            <a:ext cx="4055111" cy="25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solidFill>
                  <a:srgbClr val="BFEFF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STEP 7 OF 7</a:t>
            </a:r>
          </a:p>
        </p:txBody>
      </p:sp>
      <p:sp>
        <p:nvSpPr>
          <p:cNvPr id="201" name="Text 1"/>
          <p:cNvSpPr txBox="1"/>
          <p:nvPr/>
        </p:nvSpPr>
        <p:spPr>
          <a:xfrm>
            <a:off x="812799" y="2525713"/>
            <a:ext cx="4055111" cy="103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900"/>
              </a:lnSpc>
              <a:defRPr b="1" sz="3600">
                <a:solidFill>
                  <a:srgbClr val="F3FAF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Or just ask Claude to do it</a:t>
            </a:r>
          </a:p>
        </p:txBody>
      </p:sp>
      <p:sp>
        <p:nvSpPr>
          <p:cNvPr id="202" name="Text 2"/>
          <p:cNvSpPr txBox="1"/>
          <p:nvPr/>
        </p:nvSpPr>
        <p:spPr>
          <a:xfrm>
            <a:off x="812799" y="3709292"/>
            <a:ext cx="4055111" cy="8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500">
                <a:solidFill>
                  <a:srgbClr val="D5EEEF"/>
                </a:solidFill>
              </a:defRPr>
            </a:lvl1pPr>
          </a:lstStyle>
          <a:p>
            <a:pPr/>
            <a:r>
              <a:t>With the plugin installed, describe the app. PICO skills run steps 5 and 6 for you: scaffold, build, launch, screenshot and fix errors.</a:t>
            </a:r>
          </a:p>
        </p:txBody>
      </p:sp>
      <p:sp>
        <p:nvSpPr>
          <p:cNvPr id="203" name="Shape 3"/>
          <p:cNvSpPr/>
          <p:nvPr/>
        </p:nvSpPr>
        <p:spPr>
          <a:xfrm>
            <a:off x="5207000" y="1934318"/>
            <a:ext cx="6172200" cy="2786163"/>
          </a:xfrm>
          <a:prstGeom prst="roundRect">
            <a:avLst>
              <a:gd name="adj" fmla="val 3191"/>
            </a:avLst>
          </a:prstGeom>
          <a:solidFill>
            <a:srgbClr val="0F1A22"/>
          </a:solidFill>
          <a:ln w="12700">
            <a:miter lim="400000"/>
          </a:ln>
          <a:effectLst>
            <a:outerShdw sx="100000" sy="100000" kx="0" ky="0" algn="b" rotWithShape="0" blurRad="381000" dist="152400" dir="5400000">
              <a:srgbClr val="0A1E28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4" name="Shape 4"/>
          <p:cNvSpPr/>
          <p:nvPr/>
        </p:nvSpPr>
        <p:spPr>
          <a:xfrm>
            <a:off x="5207000" y="1934318"/>
            <a:ext cx="6172201" cy="416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610"/>
                </a:moveTo>
                <a:cubicBezTo>
                  <a:pt x="0" y="2064"/>
                  <a:pt x="139" y="0"/>
                  <a:pt x="311" y="0"/>
                </a:cubicBezTo>
                <a:lnTo>
                  <a:pt x="21289" y="0"/>
                </a:lnTo>
                <a:cubicBezTo>
                  <a:pt x="21461" y="0"/>
                  <a:pt x="21600" y="2064"/>
                  <a:pt x="21600" y="461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2A34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0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700" y="2098128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99100" y="2098128"/>
            <a:ext cx="88900" cy="88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2098128"/>
            <a:ext cx="88900" cy="8890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 5"/>
          <p:cNvSpPr txBox="1"/>
          <p:nvPr/>
        </p:nvSpPr>
        <p:spPr>
          <a:xfrm>
            <a:off x="5880100" y="2035918"/>
            <a:ext cx="59948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claude</a:t>
            </a:r>
          </a:p>
        </p:txBody>
      </p:sp>
      <p:sp>
        <p:nvSpPr>
          <p:cNvPr id="209" name="Text 6"/>
          <p:cNvSpPr txBox="1"/>
          <p:nvPr/>
        </p:nvSpPr>
        <p:spPr>
          <a:xfrm>
            <a:off x="5410200" y="2528639"/>
            <a:ext cx="2528789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$ </a:t>
            </a:r>
            <a:r>
              <a:rPr>
                <a:solidFill>
                  <a:srgbClr val="D6E2E8"/>
                </a:solidFill>
              </a:rPr>
              <a:t>mkdir globe &amp;&amp; cd globe &amp;&amp; claude</a:t>
            </a:r>
          </a:p>
        </p:txBody>
      </p:sp>
      <p:sp>
        <p:nvSpPr>
          <p:cNvPr id="210" name="Text 7"/>
          <p:cNvSpPr txBox="1"/>
          <p:nvPr/>
        </p:nvSpPr>
        <p:spPr>
          <a:xfrm>
            <a:off x="5410200" y="2749599"/>
            <a:ext cx="2685207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200">
                <a:solidFill>
                  <a:srgbClr val="5CC8D0"/>
                </a:solidFill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&gt; </a:t>
            </a:r>
            <a:r>
              <a:rPr>
                <a:solidFill>
                  <a:srgbClr val="D6E2E8"/>
                </a:solidFill>
              </a:rPr>
              <a:t>Create a volumetric PICO Spatial app</a:t>
            </a:r>
          </a:p>
        </p:txBody>
      </p:sp>
      <p:sp>
        <p:nvSpPr>
          <p:cNvPr id="211" name="Text 8"/>
          <p:cNvSpPr txBox="1"/>
          <p:nvPr/>
        </p:nvSpPr>
        <p:spPr>
          <a:xfrm>
            <a:off x="5410200" y="2970559"/>
            <a:ext cx="2681114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that shows a slowly rotating globe, run</a:t>
            </a:r>
          </a:p>
        </p:txBody>
      </p:sp>
      <p:sp>
        <p:nvSpPr>
          <p:cNvPr id="212" name="Text 9"/>
          <p:cNvSpPr txBox="1"/>
          <p:nvPr/>
        </p:nvSpPr>
        <p:spPr>
          <a:xfrm>
            <a:off x="5410200" y="3191519"/>
            <a:ext cx="3104754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D6E2E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it in the emulator and send me a screenshot.</a:t>
            </a:r>
          </a:p>
        </p:txBody>
      </p:sp>
      <p:sp>
        <p:nvSpPr>
          <p:cNvPr id="213" name="Text 10"/>
          <p:cNvSpPr txBox="1"/>
          <p:nvPr/>
        </p:nvSpPr>
        <p:spPr>
          <a:xfrm>
            <a:off x="5410200" y="3633439"/>
            <a:ext cx="2154858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● Skill: spatial-app-onboarding</a:t>
            </a:r>
          </a:p>
        </p:txBody>
      </p:sp>
      <p:sp>
        <p:nvSpPr>
          <p:cNvPr id="214" name="Text 11"/>
          <p:cNvSpPr txBox="1"/>
          <p:nvPr/>
        </p:nvSpPr>
        <p:spPr>
          <a:xfrm>
            <a:off x="5410200" y="3854399"/>
            <a:ext cx="3136826" cy="2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● pico-cli project create --template volumetric</a:t>
            </a:r>
          </a:p>
        </p:txBody>
      </p:sp>
      <p:sp>
        <p:nvSpPr>
          <p:cNvPr id="215" name="Text 12"/>
          <p:cNvSpPr txBox="1"/>
          <p:nvPr/>
        </p:nvSpPr>
        <p:spPr>
          <a:xfrm>
            <a:off x="5410200" y="4075360"/>
            <a:ext cx="1680022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● pico-cli emulator start</a:t>
            </a:r>
          </a:p>
        </p:txBody>
      </p:sp>
      <p:sp>
        <p:nvSpPr>
          <p:cNvPr id="216" name="Text 13"/>
          <p:cNvSpPr txBox="1"/>
          <p:nvPr/>
        </p:nvSpPr>
        <p:spPr>
          <a:xfrm>
            <a:off x="5410200" y="4296321"/>
            <a:ext cx="2857922" cy="246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200">
                <a:solidFill>
                  <a:srgbClr val="8499A6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  ● pico-cli app launch com.example.globe</a:t>
            </a:r>
          </a:p>
        </p:txBody>
      </p:sp>
      <p:sp>
        <p:nvSpPr>
          <p:cNvPr id="217" name="Text 14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9FB4B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218" name="Text 15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9FB4B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10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 txBox="1"/>
          <p:nvPr/>
        </p:nvSpPr>
        <p:spPr>
          <a:xfrm>
            <a:off x="812799" y="812799"/>
            <a:ext cx="10883394" cy="25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pc="100"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IF YOU GET STUCK</a:t>
            </a:r>
          </a:p>
        </p:txBody>
      </p:sp>
      <p:sp>
        <p:nvSpPr>
          <p:cNvPr id="223" name="Text 1"/>
          <p:cNvSpPr txBox="1"/>
          <p:nvPr/>
        </p:nvSpPr>
        <p:spPr>
          <a:xfrm>
            <a:off x="812799" y="1348729"/>
            <a:ext cx="10883394" cy="528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900"/>
              </a:lnSpc>
              <a:defRPr b="1" sz="36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Three commands fix most problems</a:t>
            </a:r>
          </a:p>
        </p:txBody>
      </p:sp>
      <p:sp>
        <p:nvSpPr>
          <p:cNvPr id="224" name="Shape 2"/>
          <p:cNvSpPr/>
          <p:nvPr/>
        </p:nvSpPr>
        <p:spPr>
          <a:xfrm>
            <a:off x="815975" y="2159594"/>
            <a:ext cx="3380284" cy="1993901"/>
          </a:xfrm>
          <a:prstGeom prst="roundRect">
            <a:avLst>
              <a:gd name="adj" fmla="val 4936"/>
            </a:avLst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5" name="Text 3"/>
          <p:cNvSpPr txBox="1"/>
          <p:nvPr/>
        </p:nvSpPr>
        <p:spPr>
          <a:xfrm>
            <a:off x="1098549" y="2442169"/>
            <a:ext cx="289959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20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Claude can't see the PICO tools</a:t>
            </a:r>
          </a:p>
        </p:txBody>
      </p:sp>
      <p:sp>
        <p:nvSpPr>
          <p:cNvPr id="226" name="Text 4"/>
          <p:cNvSpPr txBox="1"/>
          <p:nvPr/>
        </p:nvSpPr>
        <p:spPr>
          <a:xfrm>
            <a:off x="1098549" y="3127969"/>
            <a:ext cx="2899590" cy="768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300"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pico-cli setup --tool claude-code</a:t>
            </a:r>
          </a:p>
          <a:p>
            <a:pPr>
              <a:lnSpc>
                <a:spcPts val="1900"/>
              </a:lnSpc>
              <a:defRPr sz="1300"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then restart Claude Code</a:t>
            </a:r>
          </a:p>
        </p:txBody>
      </p:sp>
      <p:sp>
        <p:nvSpPr>
          <p:cNvPr id="227" name="Shape 5"/>
          <p:cNvSpPr/>
          <p:nvPr/>
        </p:nvSpPr>
        <p:spPr>
          <a:xfrm>
            <a:off x="4405808" y="2159594"/>
            <a:ext cx="3380334" cy="1993901"/>
          </a:xfrm>
          <a:prstGeom prst="roundRect">
            <a:avLst>
              <a:gd name="adj" fmla="val 4936"/>
            </a:avLst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8" name="Text 6"/>
          <p:cNvSpPr txBox="1"/>
          <p:nvPr/>
        </p:nvSpPr>
        <p:spPr>
          <a:xfrm>
            <a:off x="4688383" y="2442169"/>
            <a:ext cx="289964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20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Something is missing</a:t>
            </a:r>
          </a:p>
        </p:txBody>
      </p:sp>
      <p:sp>
        <p:nvSpPr>
          <p:cNvPr id="229" name="Text 7"/>
          <p:cNvSpPr txBox="1"/>
          <p:nvPr/>
        </p:nvSpPr>
        <p:spPr>
          <a:xfrm>
            <a:off x="4688383" y="2835869"/>
            <a:ext cx="289964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300"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pico-cli doctor</a:t>
            </a:r>
          </a:p>
          <a:p>
            <a:pPr>
              <a:lnSpc>
                <a:spcPts val="1900"/>
              </a:lnSpc>
              <a:defRPr sz="1300">
                <a:latin typeface="IBM Plex Mono"/>
                <a:ea typeface="IBM Plex Mono"/>
                <a:cs typeface="IBM Plex Mono"/>
                <a:sym typeface="IBM Plex Mono"/>
              </a:defRPr>
            </a:pPr>
            <a:r>
              <a:t>then run the fix it prints</a:t>
            </a:r>
          </a:p>
        </p:txBody>
      </p:sp>
      <p:sp>
        <p:nvSpPr>
          <p:cNvPr id="230" name="Shape 8"/>
          <p:cNvSpPr/>
          <p:nvPr/>
        </p:nvSpPr>
        <p:spPr>
          <a:xfrm>
            <a:off x="7995691" y="2159594"/>
            <a:ext cx="3380334" cy="1993901"/>
          </a:xfrm>
          <a:prstGeom prst="roundRect">
            <a:avLst>
              <a:gd name="adj" fmla="val 4936"/>
            </a:avLst>
          </a:prstGeom>
          <a:solidFill>
            <a:srgbClr val="FBFCFC"/>
          </a:solidFill>
          <a:ln w="6350">
            <a:solidFill>
              <a:srgbClr val="D3DCE1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1" name="Text 9"/>
          <p:cNvSpPr txBox="1"/>
          <p:nvPr/>
        </p:nvSpPr>
        <p:spPr>
          <a:xfrm>
            <a:off x="8278266" y="2442169"/>
            <a:ext cx="289964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300"/>
              </a:lnSpc>
              <a:defRPr b="1" sz="20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Not sure of a command</a:t>
            </a:r>
          </a:p>
        </p:txBody>
      </p:sp>
      <p:sp>
        <p:nvSpPr>
          <p:cNvPr id="232" name="Text 10"/>
          <p:cNvSpPr txBox="1"/>
          <p:nvPr/>
        </p:nvSpPr>
        <p:spPr>
          <a:xfrm>
            <a:off x="8278266" y="2835869"/>
            <a:ext cx="2899640" cy="27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300"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pico-cli &lt;family&gt; --help</a:t>
            </a:r>
          </a:p>
        </p:txBody>
      </p:sp>
      <p:sp>
        <p:nvSpPr>
          <p:cNvPr id="233" name="Text 11"/>
          <p:cNvSpPr txBox="1"/>
          <p:nvPr/>
        </p:nvSpPr>
        <p:spPr>
          <a:xfrm>
            <a:off x="812799" y="4461469"/>
            <a:ext cx="10883394" cy="27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300">
                <a:solidFill>
                  <a:srgbClr val="4E5F6B"/>
                </a:solidFill>
              </a:defRPr>
            </a:lvl1pPr>
          </a:lstStyle>
          <a:p>
            <a:pPr/>
            <a:r>
              <a:t>More: npmjs.com/package/@picoxr/pico-cli · github.com/Pico-Developer · docs.claude.com</a:t>
            </a:r>
          </a:p>
        </p:txBody>
      </p:sp>
      <p:sp>
        <p:nvSpPr>
          <p:cNvPr id="234" name="Text 12"/>
          <p:cNvSpPr txBox="1"/>
          <p:nvPr/>
        </p:nvSpPr>
        <p:spPr>
          <a:xfrm>
            <a:off x="812800" y="6238280"/>
            <a:ext cx="588645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PICO CLI Quickstart</a:t>
            </a:r>
          </a:p>
        </p:txBody>
      </p:sp>
      <p:sp>
        <p:nvSpPr>
          <p:cNvPr id="235" name="Text 13"/>
          <p:cNvSpPr txBox="1"/>
          <p:nvPr/>
        </p:nvSpPr>
        <p:spPr>
          <a:xfrm>
            <a:off x="10058400" y="6238280"/>
            <a:ext cx="1320800" cy="23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1600"/>
              </a:lnSpc>
              <a:defRPr sz="1200">
                <a:solidFill>
                  <a:srgbClr val="4E5F6B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</a:lstStyle>
          <a:p>
            <a:pPr/>
            <a:r>
              <a:t>11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1"/>
          <p:cNvSpPr txBox="1"/>
          <p:nvPr/>
        </p:nvSpPr>
        <p:spPr>
          <a:xfrm>
            <a:off x="696930" y="601365"/>
            <a:ext cx="6911052" cy="2129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500"/>
              </a:lnSpc>
              <a:defRPr b="1" sz="4000">
                <a:solidFill>
                  <a:srgbClr val="13202A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</a:lstStyle>
          <a:p>
            <a:pPr/>
            <a:r>
              <a:t>PICO EARLY ACCESS DEVELOPER PROGRAM</a:t>
            </a:r>
          </a:p>
        </p:txBody>
      </p:sp>
      <p:sp>
        <p:nvSpPr>
          <p:cNvPr id="240" name="Text 2"/>
          <p:cNvSpPr txBox="1"/>
          <p:nvPr/>
        </p:nvSpPr>
        <p:spPr>
          <a:xfrm>
            <a:off x="2394432" y="1943586"/>
            <a:ext cx="7981533" cy="3377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marL="330868" indent="-330868">
              <a:lnSpc>
                <a:spcPct val="120000"/>
              </a:lnSpc>
              <a:buSzPct val="100000"/>
              <a:buChar char="•"/>
            </a:pPr>
            <a:r>
              <a:t>Invitees get up to $1500 for publishing their AI generated application</a:t>
            </a:r>
          </a:p>
          <a:p>
            <a:pPr marL="330868" indent="-330868">
              <a:lnSpc>
                <a:spcPct val="120000"/>
              </a:lnSpc>
              <a:buSzPct val="100000"/>
              <a:buChar char="•"/>
            </a:pPr>
            <a:r>
              <a:t>October 1-Nov 11 2026</a:t>
            </a:r>
          </a:p>
          <a:p>
            <a:pPr marL="330868" indent="-330868">
              <a:lnSpc>
                <a:spcPct val="120000"/>
              </a:lnSpc>
              <a:buSzPct val="100000"/>
              <a:buChar char="•"/>
            </a:pPr>
            <a:r>
              <a:t>Hardware Access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837978"/>
      </a:dk1>
      <a:lt1>
        <a:srgbClr val="0B7A83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ts val="21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300" u="none" kumimoji="0" normalizeH="0">
            <a:ln>
              <a:noFill/>
            </a:ln>
            <a:solidFill>
              <a:srgbClr val="0B7A83"/>
            </a:solidFill>
            <a:effectLst/>
            <a:uFillTx/>
            <a:latin typeface="IBM Plex Sans"/>
            <a:ea typeface="IBM Plex Sans"/>
            <a:cs typeface="IBM Plex Sans"/>
            <a:sym typeface="IBM Plex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ts val="21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300" u="none" kumimoji="0" normalizeH="0">
            <a:ln>
              <a:noFill/>
            </a:ln>
            <a:solidFill>
              <a:srgbClr val="0B7A83"/>
            </a:solidFill>
            <a:effectLst/>
            <a:uFillTx/>
            <a:latin typeface="IBM Plex Sans"/>
            <a:ea typeface="IBM Plex Sans"/>
            <a:cs typeface="IBM Plex Sans"/>
            <a:sym typeface="IBM Plex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